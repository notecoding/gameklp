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652B76E-1867-41A9-9B0C-5D1477C632B2}">
          <p14:sldIdLst>
            <p14:sldId id="256"/>
            <p14:sldId id="258"/>
            <p14:sldId id="257"/>
            <p14:sldId id="259"/>
            <p14:sldId id="260"/>
            <p14:sldId id="261"/>
            <p14:sldId id="263"/>
            <p14:sldId id="264"/>
            <p14:sldId id="265"/>
            <p14:sldId id="267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387A1-AECB-40D0-86E4-D092837C4535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8A6DD2-9252-40A6-B38B-A4DF87151C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898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A6DD2-9252-40A6-B38B-A4DF87151C5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483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" TargetMode="External"/><Relationship Id="rId2" Type="http://schemas.openxmlformats.org/officeDocument/2006/relationships/hyperlink" Target="https://claude.ai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582AF-AB01-6D4A-3244-E15D273FE7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게임 프로그래밍</a:t>
            </a:r>
            <a:r>
              <a:rPr lang="en-US" altLang="ko-KR" sz="4000" dirty="0"/>
              <a:t>(</a:t>
            </a:r>
            <a:r>
              <a:rPr lang="ko-KR" altLang="en-US" sz="4000" dirty="0"/>
              <a:t>웹 게임</a:t>
            </a:r>
            <a:r>
              <a:rPr lang="en-US" altLang="ko-KR" sz="4000" dirty="0"/>
              <a:t>)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2ABCF6-804C-B590-8A0E-ACEF08785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987280"/>
          </a:xfrm>
        </p:spPr>
        <p:txBody>
          <a:bodyPr>
            <a:normAutofit/>
          </a:bodyPr>
          <a:lstStyle/>
          <a:p>
            <a:pPr algn="r"/>
            <a:r>
              <a:rPr lang="en-US" altLang="ko-KR" dirty="0"/>
              <a:t>2021963016 </a:t>
            </a:r>
            <a:r>
              <a:rPr lang="ko-KR" altLang="en-US" dirty="0" err="1"/>
              <a:t>김용효</a:t>
            </a:r>
            <a:endParaRPr lang="en-US" altLang="ko-KR" dirty="0"/>
          </a:p>
          <a:p>
            <a:pPr algn="r"/>
            <a:r>
              <a:rPr lang="en-US" altLang="ko-KR" dirty="0"/>
              <a:t>2021663028 </a:t>
            </a:r>
            <a:r>
              <a:rPr lang="ko-KR" altLang="en-US" dirty="0"/>
              <a:t>박도현</a:t>
            </a:r>
            <a:endParaRPr lang="en-US" altLang="ko-KR" dirty="0"/>
          </a:p>
          <a:p>
            <a:pPr algn="r"/>
            <a:r>
              <a:rPr lang="en-US" altLang="ko-KR" dirty="0"/>
              <a:t>2021563047 </a:t>
            </a:r>
            <a:r>
              <a:rPr lang="ko-KR" altLang="en-US" dirty="0"/>
              <a:t>이근석</a:t>
            </a:r>
            <a:endParaRPr lang="en-US" altLang="ko-KR" dirty="0"/>
          </a:p>
          <a:p>
            <a:pPr algn="r"/>
            <a:r>
              <a:rPr lang="en-US" altLang="ko-KR" dirty="0"/>
              <a:t>https://github.com/notecoding/gameklp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52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A94DA9-FC98-7068-9EE6-C1D74A58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1" y="822449"/>
            <a:ext cx="9603275" cy="1049235"/>
          </a:xfrm>
        </p:spPr>
        <p:txBody>
          <a:bodyPr/>
          <a:lstStyle/>
          <a:p>
            <a:pPr algn="ctr"/>
            <a:r>
              <a:rPr lang="en-US" altLang="ko-KR" dirty="0" err="1"/>
              <a:t>Github</a:t>
            </a:r>
            <a:r>
              <a:rPr lang="en-US" altLang="ko-KR" dirty="0"/>
              <a:t> </a:t>
            </a:r>
            <a:r>
              <a:rPr lang="en-US" altLang="ko-KR" dirty="0" err="1"/>
              <a:t>MErge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4" name="내용 개체 틀 2">
            <a:extLst>
              <a:ext uri="{FF2B5EF4-FFF2-40B4-BE49-F238E27FC236}">
                <a16:creationId xmlns:a16="http://schemas.microsoft.com/office/drawing/2014/main" id="{86410BB7-5693-83AE-6AC3-1C573DBCD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5160"/>
          <a:stretch>
            <a:fillRect/>
          </a:stretch>
        </p:blipFill>
        <p:spPr>
          <a:xfrm>
            <a:off x="1473264" y="2424107"/>
            <a:ext cx="6051964" cy="30007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2C05D0-DF6C-A2F4-8450-3D4AE9AC7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755" y="2424107"/>
            <a:ext cx="3321422" cy="299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0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C5321-81AB-F99C-ADBD-0B456BD9D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원본 게임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7F68AA-F7A5-33E8-2F2F-52B4122C9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195" y="2017805"/>
            <a:ext cx="3389363" cy="2693842"/>
          </a:xfrm>
          <a:prstGeom prst="rect">
            <a:avLst/>
          </a:prstGeom>
        </p:spPr>
      </p:pic>
      <p:pic>
        <p:nvPicPr>
          <p:cNvPr id="6" name="내용 개체 틀 4">
            <a:extLst>
              <a:ext uri="{FF2B5EF4-FFF2-40B4-BE49-F238E27FC236}">
                <a16:creationId xmlns:a16="http://schemas.microsoft.com/office/drawing/2014/main" id="{F75F974C-C991-9FDD-356C-8D2DD1C5A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20384" r="27773" b="40627"/>
          <a:stretch>
            <a:fillRect/>
          </a:stretch>
        </p:blipFill>
        <p:spPr>
          <a:xfrm>
            <a:off x="1451579" y="5004247"/>
            <a:ext cx="4220597" cy="6345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B40C2A-2D5D-0CB5-67EB-54915D6C8CC3}"/>
              </a:ext>
            </a:extLst>
          </p:cNvPr>
          <p:cNvSpPr txBox="1"/>
          <p:nvPr/>
        </p:nvSpPr>
        <p:spPr>
          <a:xfrm>
            <a:off x="6343308" y="2828185"/>
            <a:ext cx="549381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적이 움직이지 않음 </a:t>
            </a:r>
            <a:r>
              <a:rPr lang="en-US" altLang="ko-KR" dirty="0"/>
              <a:t>(AI </a:t>
            </a:r>
            <a:r>
              <a:rPr lang="ko-KR" altLang="en-US" dirty="0"/>
              <a:t>없음</a:t>
            </a:r>
            <a:r>
              <a:rPr lang="en-US" altLang="ko-KR" dirty="0"/>
              <a:t>) 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적 충돌 시 매 키 입력마다 데미지 → </a:t>
            </a:r>
            <a:r>
              <a:rPr lang="ko-KR" altLang="en-US" dirty="0" err="1"/>
              <a:t>쿨타임</a:t>
            </a:r>
            <a:r>
              <a:rPr lang="ko-KR" altLang="en-US" dirty="0"/>
              <a:t> 없음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공격 시 범위 내 모든 적 동시 피격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게임 루프 없음 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키보드 연속 입력 처리 안 됨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투사체 시스템 없음 </a:t>
            </a:r>
            <a:r>
              <a:rPr lang="en-US" altLang="ko-KR" dirty="0"/>
              <a:t>(</a:t>
            </a:r>
            <a:r>
              <a:rPr lang="ko-KR" altLang="en-US" dirty="0"/>
              <a:t>즉시 판정</a:t>
            </a:r>
            <a:r>
              <a:rPr lang="en-US" altLang="ko-KR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A41EA-2BA0-DB0D-8833-5A7938C7DB13}"/>
              </a:ext>
            </a:extLst>
          </p:cNvPr>
          <p:cNvSpPr txBox="1"/>
          <p:nvPr/>
        </p:nvSpPr>
        <p:spPr>
          <a:xfrm>
            <a:off x="8102797" y="211013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문제점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56787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60A54-67F5-8817-6141-F68A036A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업그레이드 게임의 핵심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E95DDA-42AD-8EE2-45CF-6B1D20A6C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59166"/>
            <a:ext cx="9603275" cy="4026481"/>
          </a:xfrm>
        </p:spPr>
        <p:txBody>
          <a:bodyPr numCol="2"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sz="2900" dirty="0"/>
              <a:t>오디오 시스템</a:t>
            </a: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900" dirty="0" err="1"/>
              <a:t>인트로</a:t>
            </a:r>
            <a:r>
              <a:rPr lang="ko-KR" altLang="en-US" sz="2900" dirty="0"/>
              <a:t> 및 </a:t>
            </a:r>
            <a:r>
              <a:rPr lang="en-US" altLang="ko-KR" sz="2900" dirty="0"/>
              <a:t>UI/UX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900" dirty="0"/>
              <a:t>캐릭터 </a:t>
            </a:r>
            <a:r>
              <a:rPr lang="en-US" altLang="ko-KR" sz="2900" dirty="0"/>
              <a:t>&amp; </a:t>
            </a:r>
            <a:r>
              <a:rPr lang="ko-KR" altLang="en-US" sz="2900" dirty="0"/>
              <a:t>커스터마이징</a:t>
            </a: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900" dirty="0"/>
              <a:t>스킬 시스템</a:t>
            </a: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900" dirty="0"/>
              <a:t>맵 환경 시스템</a:t>
            </a: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900" dirty="0"/>
              <a:t>무기 시스템</a:t>
            </a: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900" dirty="0"/>
              <a:t>적 타입 시스템</a:t>
            </a: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900" dirty="0"/>
              <a:t>강화 시스템</a:t>
            </a: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900" dirty="0"/>
              <a:t>메타진행</a:t>
            </a:r>
            <a:endParaRPr lang="en-US" altLang="ko-KR" sz="2900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34357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36165-1FF6-155E-5F47-1479180F9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오디오 시스템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CB72D-42A7-7ADA-9A08-FE7310DEAD80}"/>
              </a:ext>
            </a:extLst>
          </p:cNvPr>
          <p:cNvSpPr txBox="1"/>
          <p:nvPr/>
        </p:nvSpPr>
        <p:spPr>
          <a:xfrm>
            <a:off x="6343308" y="2724853"/>
            <a:ext cx="471154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WAV </a:t>
            </a:r>
            <a:r>
              <a:rPr lang="ko-KR" altLang="en-US" dirty="0"/>
              <a:t>기반 배경 음악의 추가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재생</a:t>
            </a:r>
            <a:r>
              <a:rPr lang="en-US" altLang="ko-KR" dirty="0"/>
              <a:t>/</a:t>
            </a:r>
            <a:r>
              <a:rPr lang="ko-KR" altLang="en-US" dirty="0"/>
              <a:t>일시정지 등의 </a:t>
            </a:r>
            <a:r>
              <a:rPr lang="en-US" altLang="ko-KR" dirty="0"/>
              <a:t>BGM </a:t>
            </a:r>
            <a:r>
              <a:rPr lang="ko-KR" altLang="en-US" dirty="0"/>
              <a:t>재생 제어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BGM </a:t>
            </a:r>
            <a:r>
              <a:rPr lang="ko-KR" altLang="en-US" dirty="0"/>
              <a:t>볼륨 조절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공격</a:t>
            </a:r>
            <a:r>
              <a:rPr lang="en-US" altLang="ko-KR" dirty="0"/>
              <a:t>, </a:t>
            </a:r>
            <a:r>
              <a:rPr lang="ko-KR" altLang="en-US" dirty="0"/>
              <a:t>피격</a:t>
            </a:r>
            <a:r>
              <a:rPr lang="en-US" altLang="ko-KR" dirty="0"/>
              <a:t>, </a:t>
            </a:r>
            <a:r>
              <a:rPr lang="ko-KR" altLang="en-US" dirty="0"/>
              <a:t>아이템 획득 등의 효과음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BGM</a:t>
            </a:r>
            <a:r>
              <a:rPr lang="ko-KR" altLang="en-US" dirty="0"/>
              <a:t>과 별개의 효과음 볼륨 조절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 err="1"/>
              <a:t>로컬스토리지를</a:t>
            </a:r>
            <a:r>
              <a:rPr lang="ko-KR" altLang="en-US" dirty="0"/>
              <a:t> 이용한 오디오 설정 저장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7964E4C-5607-C2FE-8AD4-42D3F6540A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02" t="4265" r="9701"/>
          <a:stretch>
            <a:fillRect/>
          </a:stretch>
        </p:blipFill>
        <p:spPr>
          <a:xfrm>
            <a:off x="1420573" y="2340553"/>
            <a:ext cx="4518212" cy="23803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BAC5D3-1270-BAFB-FED5-4CB8ABAC4B12}"/>
              </a:ext>
            </a:extLst>
          </p:cNvPr>
          <p:cNvSpPr txBox="1"/>
          <p:nvPr/>
        </p:nvSpPr>
        <p:spPr>
          <a:xfrm>
            <a:off x="7333161" y="2109720"/>
            <a:ext cx="2731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업그레이드된 요소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F6C23-C488-CA6A-2614-D67754DECC9B}"/>
              </a:ext>
            </a:extLst>
          </p:cNvPr>
          <p:cNvSpPr txBox="1"/>
          <p:nvPr/>
        </p:nvSpPr>
        <p:spPr>
          <a:xfrm>
            <a:off x="8239980" y="5094312"/>
            <a:ext cx="9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총</a:t>
            </a:r>
            <a:r>
              <a:rPr lang="en-US" altLang="ko-KR" b="1" dirty="0"/>
              <a:t> : 6</a:t>
            </a:r>
            <a:r>
              <a:rPr lang="ko-KR" altLang="en-US" b="1" dirty="0"/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434007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85E53F-E1C0-266A-466A-8768E706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인트로</a:t>
            </a:r>
            <a:r>
              <a:rPr lang="ko-KR" altLang="en-US" dirty="0"/>
              <a:t> 및 </a:t>
            </a:r>
            <a:r>
              <a:rPr lang="en-US" altLang="ko-KR" dirty="0"/>
              <a:t>UI/UX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E5EBCA-5176-6803-23F4-798EFC737492}"/>
              </a:ext>
            </a:extLst>
          </p:cNvPr>
          <p:cNvSpPr txBox="1"/>
          <p:nvPr/>
        </p:nvSpPr>
        <p:spPr>
          <a:xfrm>
            <a:off x="7774689" y="2109719"/>
            <a:ext cx="2731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업그레이드된 요소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B0D1E-8FCA-278D-EB27-0EAAC68522F2}"/>
              </a:ext>
            </a:extLst>
          </p:cNvPr>
          <p:cNvSpPr txBox="1"/>
          <p:nvPr/>
        </p:nvSpPr>
        <p:spPr>
          <a:xfrm>
            <a:off x="7030094" y="2636971"/>
            <a:ext cx="422102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 err="1"/>
              <a:t>인트로</a:t>
            </a:r>
            <a:r>
              <a:rPr lang="ko-KR" altLang="en-US" dirty="0"/>
              <a:t> 애니메이션 로고</a:t>
            </a:r>
            <a:r>
              <a:rPr lang="en-US" altLang="ko-KR" dirty="0"/>
              <a:t>(</a:t>
            </a:r>
            <a:r>
              <a:rPr lang="ko-KR" altLang="en-US" dirty="0"/>
              <a:t>부유 효과</a:t>
            </a:r>
            <a:r>
              <a:rPr lang="en-US" altLang="ko-KR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게임의 소개 문구 추가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게임의 버전 표시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튜토리얼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닉네임 입력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메뉴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결과 표시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플레이어 </a:t>
            </a:r>
            <a:r>
              <a:rPr lang="ko-KR" altLang="en-US" dirty="0" err="1"/>
              <a:t>체력바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플레이어의 레벨 및 경험치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플레이어의 능력치 시각화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443240A-CD19-6B62-63DF-D3CE2DC89E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81" t="8978" r="10219" b="7909"/>
          <a:stretch>
            <a:fillRect/>
          </a:stretch>
        </p:blipFill>
        <p:spPr>
          <a:xfrm>
            <a:off x="541487" y="2185252"/>
            <a:ext cx="1742708" cy="1243748"/>
          </a:xfrm>
          <a:prstGeom prst="rect">
            <a:avLst/>
          </a:prstGeom>
        </p:spPr>
      </p:pic>
      <p:pic>
        <p:nvPicPr>
          <p:cNvPr id="9" name="내용 개체 틀 2">
            <a:extLst>
              <a:ext uri="{FF2B5EF4-FFF2-40B4-BE49-F238E27FC236}">
                <a16:creationId xmlns:a16="http://schemas.microsoft.com/office/drawing/2014/main" id="{97DA55EA-6121-9A28-4163-13DDA086EE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6706" t="7253" r="4142" b="6901"/>
          <a:stretch>
            <a:fillRect/>
          </a:stretch>
        </p:blipFill>
        <p:spPr>
          <a:xfrm>
            <a:off x="2379681" y="2185252"/>
            <a:ext cx="1742709" cy="124374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BEFCF5F-8A5E-5BC9-2413-2C4D5DE87F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53" t="6440" r="7764" b="3017"/>
          <a:stretch>
            <a:fillRect/>
          </a:stretch>
        </p:blipFill>
        <p:spPr>
          <a:xfrm>
            <a:off x="4242352" y="2185251"/>
            <a:ext cx="2441330" cy="36441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60D382-0BC0-5A89-C0CA-E6380FB8B1CB}"/>
              </a:ext>
            </a:extLst>
          </p:cNvPr>
          <p:cNvSpPr txBox="1"/>
          <p:nvPr/>
        </p:nvSpPr>
        <p:spPr>
          <a:xfrm>
            <a:off x="8606968" y="5564880"/>
            <a:ext cx="1067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총</a:t>
            </a:r>
            <a:r>
              <a:rPr lang="en-US" altLang="ko-KR" b="1" dirty="0"/>
              <a:t> : 10</a:t>
            </a:r>
            <a:r>
              <a:rPr lang="ko-KR" altLang="en-US" b="1" dirty="0"/>
              <a:t>개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C363A6C-6B8A-AF3C-4D6E-27835ED42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86" y="3540633"/>
            <a:ext cx="3580903" cy="228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129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48D9D-01B9-4891-FF5C-955A8E9A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캐릭터 </a:t>
            </a:r>
            <a:r>
              <a:rPr lang="en-US" altLang="ko-KR" dirty="0"/>
              <a:t>&amp; </a:t>
            </a:r>
            <a:r>
              <a:rPr lang="ko-KR" altLang="en-US" dirty="0"/>
              <a:t>커스터마이징</a:t>
            </a:r>
          </a:p>
        </p:txBody>
      </p:sp>
      <p:pic>
        <p:nvPicPr>
          <p:cNvPr id="4" name="내용 개체 틀 2">
            <a:extLst>
              <a:ext uri="{FF2B5EF4-FFF2-40B4-BE49-F238E27FC236}">
                <a16:creationId xmlns:a16="http://schemas.microsoft.com/office/drawing/2014/main" id="{FD0F5BE7-3764-EB07-1144-5F32ADD87E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61" t="1683" r="2929" b="1606"/>
          <a:stretch>
            <a:fillRect/>
          </a:stretch>
        </p:blipFill>
        <p:spPr>
          <a:xfrm>
            <a:off x="161116" y="2571384"/>
            <a:ext cx="3048713" cy="26346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EA0591-2B0E-14D7-7B68-499F91E9D0F7}"/>
              </a:ext>
            </a:extLst>
          </p:cNvPr>
          <p:cNvSpPr txBox="1"/>
          <p:nvPr/>
        </p:nvSpPr>
        <p:spPr>
          <a:xfrm>
            <a:off x="7774689" y="2109719"/>
            <a:ext cx="2731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업그레이드된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6B0559-1264-86AB-0B84-03B6EE7C8A86}"/>
              </a:ext>
            </a:extLst>
          </p:cNvPr>
          <p:cNvSpPr txBox="1"/>
          <p:nvPr/>
        </p:nvSpPr>
        <p:spPr>
          <a:xfrm>
            <a:off x="7030095" y="2955685"/>
            <a:ext cx="419858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플레이어의 색상 및 무기 색상 변경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무기의 이펙트 추가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커스터마이즈 실시간 미리보기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캐릭터의 직업 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각기 다른 직업의 능력치 구현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C5C077-D34C-3A47-D7CD-DB1B00F56515}"/>
              </a:ext>
            </a:extLst>
          </p:cNvPr>
          <p:cNvSpPr txBox="1"/>
          <p:nvPr/>
        </p:nvSpPr>
        <p:spPr>
          <a:xfrm>
            <a:off x="8670288" y="5094312"/>
            <a:ext cx="9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총</a:t>
            </a:r>
            <a:r>
              <a:rPr lang="en-US" altLang="ko-KR" b="1" dirty="0"/>
              <a:t> : 5</a:t>
            </a:r>
            <a:r>
              <a:rPr lang="ko-KR" altLang="en-US" b="1" dirty="0"/>
              <a:t>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94D7E4D-3F2E-7F67-7416-1EEBC5A048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71415" y="2571384"/>
            <a:ext cx="3466924" cy="263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43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C1C5E-65F8-0D04-7EE0-B5C5821D5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무기</a:t>
            </a:r>
            <a:r>
              <a:rPr lang="en-US" altLang="ko-KR" dirty="0"/>
              <a:t> </a:t>
            </a:r>
            <a:r>
              <a:rPr lang="ko-KR" altLang="en-US" dirty="0"/>
              <a:t>및 스킬 시스템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76C30F-8231-C108-EB9C-6878A0C4D023}"/>
              </a:ext>
            </a:extLst>
          </p:cNvPr>
          <p:cNvSpPr txBox="1"/>
          <p:nvPr/>
        </p:nvSpPr>
        <p:spPr>
          <a:xfrm>
            <a:off x="7774689" y="2109719"/>
            <a:ext cx="2731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업그레이드된 요소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EE5546-C6AE-3F39-E119-193F51BC4A54}"/>
              </a:ext>
            </a:extLst>
          </p:cNvPr>
          <p:cNvSpPr txBox="1"/>
          <p:nvPr/>
        </p:nvSpPr>
        <p:spPr>
          <a:xfrm>
            <a:off x="7717403" y="2827349"/>
            <a:ext cx="286488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무기별 효과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맵 랜덤 위치 무기 생성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무기 중첩 시스템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무기 드롭 애니메이션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 err="1"/>
              <a:t>레벨업</a:t>
            </a:r>
            <a:r>
              <a:rPr lang="ko-KR" altLang="en-US" dirty="0"/>
              <a:t> 시 스킬 선택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스킬 강화 및 융합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무적 스킬의 상태 표시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방어막의 시각적 효과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AB7199-7BB2-C596-1C19-7F611F33DCAB}"/>
              </a:ext>
            </a:extLst>
          </p:cNvPr>
          <p:cNvSpPr txBox="1"/>
          <p:nvPr/>
        </p:nvSpPr>
        <p:spPr>
          <a:xfrm>
            <a:off x="8670287" y="5564880"/>
            <a:ext cx="9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총</a:t>
            </a:r>
            <a:r>
              <a:rPr lang="en-US" altLang="ko-KR" b="1" dirty="0"/>
              <a:t> : 8</a:t>
            </a:r>
            <a:r>
              <a:rPr lang="ko-KR" altLang="en-US" b="1" dirty="0"/>
              <a:t>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C435F3F-A7F8-3A94-A5CB-BFC7B107E9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15" t="9544" r="6964" b="5260"/>
          <a:stretch>
            <a:fillRect/>
          </a:stretch>
        </p:blipFill>
        <p:spPr>
          <a:xfrm>
            <a:off x="3576807" y="2571384"/>
            <a:ext cx="2899774" cy="2289880"/>
          </a:xfrm>
          <a:prstGeom prst="rect">
            <a:avLst/>
          </a:prstGeom>
        </p:spPr>
      </p:pic>
      <p:pic>
        <p:nvPicPr>
          <p:cNvPr id="11" name="내용 개체 틀 4">
            <a:extLst>
              <a:ext uri="{FF2B5EF4-FFF2-40B4-BE49-F238E27FC236}">
                <a16:creationId xmlns:a16="http://schemas.microsoft.com/office/drawing/2014/main" id="{B332D06F-7047-906C-D57A-6DD2E26195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94" t="6598" r="57637" b="70219"/>
          <a:stretch>
            <a:fillRect/>
          </a:stretch>
        </p:blipFill>
        <p:spPr>
          <a:xfrm>
            <a:off x="5066616" y="3790925"/>
            <a:ext cx="2215835" cy="1456981"/>
          </a:xfrm>
          <a:prstGeom prst="rect">
            <a:avLst/>
          </a:prstGeom>
        </p:spPr>
      </p:pic>
      <p:pic>
        <p:nvPicPr>
          <p:cNvPr id="12" name="내용 개체 틀 2">
            <a:extLst>
              <a:ext uri="{FF2B5EF4-FFF2-40B4-BE49-F238E27FC236}">
                <a16:creationId xmlns:a16="http://schemas.microsoft.com/office/drawing/2014/main" id="{CA595659-B4EC-09DE-B736-5071D9D5B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/>
          <a:srcRect l="80951" t="4837" r="1915" b="62109"/>
          <a:stretch>
            <a:fillRect/>
          </a:stretch>
        </p:blipFill>
        <p:spPr>
          <a:xfrm>
            <a:off x="919385" y="2561558"/>
            <a:ext cx="2523061" cy="229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572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99EAD1-DDE7-B27C-4F42-AB3F95F6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환경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3E909-DD37-345C-55E9-516D5E1AAF97}"/>
              </a:ext>
            </a:extLst>
          </p:cNvPr>
          <p:cNvSpPr txBox="1"/>
          <p:nvPr/>
        </p:nvSpPr>
        <p:spPr>
          <a:xfrm>
            <a:off x="7774689" y="2109719"/>
            <a:ext cx="2731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업그레이드된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FAC91D-C5BF-FDE9-8162-A42E0AFC5215}"/>
              </a:ext>
            </a:extLst>
          </p:cNvPr>
          <p:cNvSpPr txBox="1"/>
          <p:nvPr/>
        </p:nvSpPr>
        <p:spPr>
          <a:xfrm>
            <a:off x="7419624" y="2571384"/>
            <a:ext cx="209544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배경의 색상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게임의 영역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장애물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함정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 err="1"/>
              <a:t>미니맵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웨이브 경고문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C79864-2545-6980-F377-FA7E902C1985}"/>
              </a:ext>
            </a:extLst>
          </p:cNvPr>
          <p:cNvSpPr txBox="1"/>
          <p:nvPr/>
        </p:nvSpPr>
        <p:spPr>
          <a:xfrm>
            <a:off x="8670287" y="5417042"/>
            <a:ext cx="9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총</a:t>
            </a:r>
            <a:r>
              <a:rPr lang="en-US" altLang="ko-KR" b="1" dirty="0"/>
              <a:t> : 6</a:t>
            </a:r>
            <a:r>
              <a:rPr lang="ko-KR" altLang="en-US" b="1" dirty="0"/>
              <a:t>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9F9956B-D81C-C3E8-6D1C-AEDECBAD5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417" y="2238439"/>
            <a:ext cx="4529173" cy="297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02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106A1-6690-BC7F-95BD-3987DAA5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 타입 시스템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DBAE0B-3CB0-4C07-7ABB-5923A1DCE1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953" r="26294"/>
          <a:stretch>
            <a:fillRect/>
          </a:stretch>
        </p:blipFill>
        <p:spPr>
          <a:xfrm>
            <a:off x="2487679" y="2197025"/>
            <a:ext cx="949581" cy="92951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4F295D9-48E8-ED40-2DFB-5442E3595C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593"/>
          <a:stretch>
            <a:fillRect/>
          </a:stretch>
        </p:blipFill>
        <p:spPr>
          <a:xfrm>
            <a:off x="3545576" y="2189961"/>
            <a:ext cx="949581" cy="933793"/>
          </a:xfrm>
          <a:prstGeom prst="rect">
            <a:avLst/>
          </a:prstGeom>
        </p:spPr>
      </p:pic>
      <p:pic>
        <p:nvPicPr>
          <p:cNvPr id="6" name="내용 개체 틀 4">
            <a:extLst>
              <a:ext uri="{FF2B5EF4-FFF2-40B4-BE49-F238E27FC236}">
                <a16:creationId xmlns:a16="http://schemas.microsoft.com/office/drawing/2014/main" id="{6302FF55-3164-8613-E5BE-48A24ABEC1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583" r="16617" b="-358"/>
          <a:stretch>
            <a:fillRect/>
          </a:stretch>
        </p:blipFill>
        <p:spPr>
          <a:xfrm>
            <a:off x="4603473" y="2197025"/>
            <a:ext cx="949581" cy="9295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CC3490-1DCB-511A-0DB3-2D58B7B5E140}"/>
              </a:ext>
            </a:extLst>
          </p:cNvPr>
          <p:cNvSpPr txBox="1"/>
          <p:nvPr/>
        </p:nvSpPr>
        <p:spPr>
          <a:xfrm>
            <a:off x="7774689" y="2109719"/>
            <a:ext cx="2731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업그레이드된 요소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066628-28CC-082C-4134-658827BCC98A}"/>
              </a:ext>
            </a:extLst>
          </p:cNvPr>
          <p:cNvSpPr txBox="1"/>
          <p:nvPr/>
        </p:nvSpPr>
        <p:spPr>
          <a:xfrm>
            <a:off x="7419624" y="2571384"/>
            <a:ext cx="344196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각기 다른 몬스터의 능력치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각기 다른 몬스터의 경험치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몬스터의 디자인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몬스터의 애니메이션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몬스터의 등장 시기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몬스터의 </a:t>
            </a:r>
            <a:r>
              <a:rPr lang="ko-KR" altLang="en-US" dirty="0" err="1"/>
              <a:t>체력바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몬스터 처치 시 획득 포인트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콤보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콤보 타이머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각 몬스터의 킬 카운트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F2EABB-8DA9-1E65-FF5E-4BA5F2C999B5}"/>
              </a:ext>
            </a:extLst>
          </p:cNvPr>
          <p:cNvSpPr txBox="1"/>
          <p:nvPr/>
        </p:nvSpPr>
        <p:spPr>
          <a:xfrm>
            <a:off x="8606968" y="5417042"/>
            <a:ext cx="1067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총</a:t>
            </a:r>
            <a:r>
              <a:rPr lang="en-US" altLang="ko-KR" b="1" dirty="0"/>
              <a:t> : 10</a:t>
            </a:r>
            <a:r>
              <a:rPr lang="ko-KR" altLang="en-US" b="1" dirty="0"/>
              <a:t>개</a:t>
            </a:r>
          </a:p>
        </p:txBody>
      </p:sp>
      <p:sp>
        <p:nvSpPr>
          <p:cNvPr id="13" name="가로 글상자 8">
            <a:extLst>
              <a:ext uri="{FF2B5EF4-FFF2-40B4-BE49-F238E27FC236}">
                <a16:creationId xmlns:a16="http://schemas.microsoft.com/office/drawing/2014/main" id="{60345E09-987E-FA8B-2802-493E6C80F780}"/>
              </a:ext>
            </a:extLst>
          </p:cNvPr>
          <p:cNvSpPr txBox="1"/>
          <p:nvPr/>
        </p:nvSpPr>
        <p:spPr>
          <a:xfrm>
            <a:off x="3066549" y="3248129"/>
            <a:ext cx="19076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600" b="1" dirty="0"/>
              <a:t>엘리트 </a:t>
            </a:r>
            <a:r>
              <a:rPr lang="ko-KR" altLang="en-US" sz="1600" b="1" dirty="0" err="1"/>
              <a:t>몹</a:t>
            </a:r>
            <a:endParaRPr lang="ko-KR" altLang="en-US" sz="1600" b="1" dirty="0"/>
          </a:p>
        </p:txBody>
      </p:sp>
      <p:sp>
        <p:nvSpPr>
          <p:cNvPr id="14" name="가로 글상자 9">
            <a:extLst>
              <a:ext uri="{FF2B5EF4-FFF2-40B4-BE49-F238E27FC236}">
                <a16:creationId xmlns:a16="http://schemas.microsoft.com/office/drawing/2014/main" id="{B0EC0DFE-BCB7-D88D-A4C8-9943241FA470}"/>
              </a:ext>
            </a:extLst>
          </p:cNvPr>
          <p:cNvSpPr txBox="1"/>
          <p:nvPr/>
        </p:nvSpPr>
        <p:spPr>
          <a:xfrm>
            <a:off x="4124446" y="3237317"/>
            <a:ext cx="19076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600" b="1" dirty="0"/>
              <a:t>보스 </a:t>
            </a:r>
            <a:r>
              <a:rPr lang="ko-KR" altLang="en-US" sz="1600" b="1" dirty="0" err="1"/>
              <a:t>몹</a:t>
            </a:r>
            <a:endParaRPr lang="ko-KR" altLang="en-US" sz="1600" b="1" dirty="0"/>
          </a:p>
        </p:txBody>
      </p:sp>
      <p:sp>
        <p:nvSpPr>
          <p:cNvPr id="15" name="가로 글상자 10">
            <a:extLst>
              <a:ext uri="{FF2B5EF4-FFF2-40B4-BE49-F238E27FC236}">
                <a16:creationId xmlns:a16="http://schemas.microsoft.com/office/drawing/2014/main" id="{B4B3266F-AEA2-A83B-D869-DB04F8C79B09}"/>
              </a:ext>
            </a:extLst>
          </p:cNvPr>
          <p:cNvSpPr txBox="1"/>
          <p:nvPr/>
        </p:nvSpPr>
        <p:spPr>
          <a:xfrm>
            <a:off x="1943875" y="3248129"/>
            <a:ext cx="19076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600" b="1" dirty="0"/>
              <a:t>일반 </a:t>
            </a:r>
            <a:r>
              <a:rPr lang="ko-KR" altLang="en-US" sz="1600" b="1" dirty="0" err="1"/>
              <a:t>몹</a:t>
            </a:r>
            <a:endParaRPr lang="ko-KR" altLang="en-US" sz="1600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E2C7D47-E536-084F-4DA9-8D1A55D4E0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0961" y="3708272"/>
            <a:ext cx="3234606" cy="209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10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62FC86-816B-E7C4-3539-14D9FF91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메타 진행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91D8E-9918-E3D1-1F4B-9D9DE5098ED0}"/>
              </a:ext>
            </a:extLst>
          </p:cNvPr>
          <p:cNvSpPr txBox="1"/>
          <p:nvPr/>
        </p:nvSpPr>
        <p:spPr>
          <a:xfrm>
            <a:off x="7774689" y="2109719"/>
            <a:ext cx="2731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업그레이드된 요소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BCFB83-BE5E-51FA-EBEB-32FEB29E6004}"/>
              </a:ext>
            </a:extLst>
          </p:cNvPr>
          <p:cNvSpPr txBox="1"/>
          <p:nvPr/>
        </p:nvSpPr>
        <p:spPr>
          <a:xfrm>
            <a:off x="8485570" y="3045332"/>
            <a:ext cx="11079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골드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상점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랭킹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업적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강화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5DF23D-4767-3668-825C-79D7B1B45291}"/>
              </a:ext>
            </a:extLst>
          </p:cNvPr>
          <p:cNvSpPr txBox="1"/>
          <p:nvPr/>
        </p:nvSpPr>
        <p:spPr>
          <a:xfrm>
            <a:off x="8670287" y="5273606"/>
            <a:ext cx="9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총</a:t>
            </a:r>
            <a:r>
              <a:rPr lang="en-US" altLang="ko-KR" b="1" dirty="0"/>
              <a:t> : 5</a:t>
            </a:r>
            <a:r>
              <a:rPr lang="ko-KR" altLang="en-US" b="1" dirty="0"/>
              <a:t>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BF6566B-1F22-AE7E-13AF-EBC4F8E38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836" y="2030002"/>
            <a:ext cx="3249394" cy="40193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DE5AE9A-3E25-5509-0FE4-8090CA658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390" y="4011193"/>
            <a:ext cx="2883670" cy="203820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D335F5-6C06-FE89-0036-D35549A5A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390" y="2030002"/>
            <a:ext cx="2883670" cy="192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451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D3C36-D7DE-35D4-78D4-36A8E16F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업그레이드 수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BABAFD3C-6BE2-67B1-B07E-AFDBFCA03A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983838"/>
              </p:ext>
            </p:extLst>
          </p:nvPr>
        </p:nvGraphicFramePr>
        <p:xfrm>
          <a:off x="2478421" y="2267137"/>
          <a:ext cx="754959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9849">
                  <a:extLst>
                    <a:ext uri="{9D8B030D-6E8A-4147-A177-3AD203B41FA5}">
                      <a16:colId xmlns:a16="http://schemas.microsoft.com/office/drawing/2014/main" val="1112085671"/>
                    </a:ext>
                  </a:extLst>
                </a:gridCol>
                <a:gridCol w="2859741">
                  <a:extLst>
                    <a:ext uri="{9D8B030D-6E8A-4147-A177-3AD203B41FA5}">
                      <a16:colId xmlns:a16="http://schemas.microsoft.com/office/drawing/2014/main" val="22193442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업그레이드 개수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621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오디오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891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인트로</a:t>
                      </a:r>
                      <a:r>
                        <a:rPr lang="ko-KR" altLang="en-US" dirty="0"/>
                        <a:t> 및 </a:t>
                      </a:r>
                      <a:r>
                        <a:rPr lang="en-US" altLang="ko-KR" dirty="0"/>
                        <a:t>UI/UX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개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501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 </a:t>
                      </a:r>
                      <a:r>
                        <a:rPr lang="en-US" altLang="ko-KR" dirty="0"/>
                        <a:t>&amp; </a:t>
                      </a:r>
                      <a:r>
                        <a:rPr lang="ko-KR" altLang="en-US" dirty="0"/>
                        <a:t>커스터마이징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775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무기 및 스킬 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392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맵 환경 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647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적 타입 시스템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16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메타 진행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92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총합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47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704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391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D5F0A-88F4-FCD7-A05D-9D917B824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코드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F069F7-6962-558A-F6F3-0F8864CF9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ko-KR" sz="2800" b="1" dirty="0" err="1"/>
              <a:t>gameLoop</a:t>
            </a:r>
            <a:r>
              <a:rPr lang="en-US" altLang="ko-KR" sz="2800" b="1" dirty="0"/>
              <a:t>(</a:t>
            </a:r>
            <a:r>
              <a:rPr lang="en-US" altLang="ko-KR" sz="2800" b="1" dirty="0" err="1"/>
              <a:t>ts</a:t>
            </a:r>
            <a:r>
              <a:rPr lang="en-US" altLang="ko-KR" sz="2800" b="1" dirty="0"/>
              <a:t>)</a:t>
            </a:r>
            <a:r>
              <a:rPr lang="ko-KR" altLang="en-US" sz="2800" b="1" dirty="0"/>
              <a:t> </a:t>
            </a:r>
            <a:endParaRPr lang="en-US" altLang="ko-KR" sz="2800" b="1" dirty="0"/>
          </a:p>
          <a:p>
            <a:pPr marL="0" indent="0">
              <a:buNone/>
            </a:pPr>
            <a:r>
              <a:rPr lang="ko-KR" altLang="en-US" sz="2800" dirty="0"/>
              <a:t>게임의 심장</a:t>
            </a:r>
            <a:r>
              <a:rPr lang="en-US" altLang="ko-KR" sz="2800" dirty="0"/>
              <a:t>. </a:t>
            </a:r>
            <a:r>
              <a:rPr lang="ko-KR" altLang="en-US" sz="2800" dirty="0"/>
              <a:t>모든 것을 매 프레임마다 업데이트하는 메인 루프</a:t>
            </a:r>
            <a:endParaRPr lang="en-US" altLang="ko-KR" sz="2800" b="1" dirty="0"/>
          </a:p>
          <a:p>
            <a:r>
              <a:rPr lang="en-US" altLang="ko-KR" sz="2800" b="1" dirty="0" err="1"/>
              <a:t>stepProjectiles</a:t>
            </a:r>
            <a:r>
              <a:rPr lang="en-US" altLang="ko-KR" sz="2800" b="1" dirty="0"/>
              <a:t>()</a:t>
            </a:r>
            <a:r>
              <a:rPr lang="ko-KR" altLang="en-US" sz="2800" b="1" dirty="0"/>
              <a:t> </a:t>
            </a:r>
            <a:endParaRPr lang="en-US" altLang="ko-KR" sz="2800" b="1" dirty="0"/>
          </a:p>
          <a:p>
            <a:pPr marL="0" indent="0">
              <a:buNone/>
            </a:pPr>
            <a:r>
              <a:rPr lang="ko-KR" altLang="en-US" sz="2800" dirty="0"/>
              <a:t>투사체 이동</a:t>
            </a:r>
            <a:r>
              <a:rPr lang="en-US" altLang="ko-KR" sz="2800" dirty="0"/>
              <a:t>, </a:t>
            </a:r>
            <a:r>
              <a:rPr lang="ko-KR" altLang="en-US" sz="2800" dirty="0"/>
              <a:t>적 충돌</a:t>
            </a:r>
            <a:r>
              <a:rPr lang="en-US" altLang="ko-KR" sz="2800" dirty="0"/>
              <a:t>, </a:t>
            </a:r>
            <a:r>
              <a:rPr lang="ko-KR" altLang="en-US" sz="2800" dirty="0"/>
              <a:t>데미지 처리</a:t>
            </a:r>
            <a:r>
              <a:rPr lang="en-US" altLang="ko-KR" sz="2800" dirty="0"/>
              <a:t>. </a:t>
            </a:r>
            <a:r>
              <a:rPr lang="ko-KR" altLang="en-US" sz="2800" dirty="0"/>
              <a:t>전투의 핵심</a:t>
            </a:r>
            <a:endParaRPr lang="en-US" altLang="ko-KR" sz="2800" b="1" dirty="0"/>
          </a:p>
          <a:p>
            <a:r>
              <a:rPr lang="en-US" altLang="ko-KR" sz="2800" b="1" dirty="0" err="1"/>
              <a:t>stepEnemies</a:t>
            </a:r>
            <a:r>
              <a:rPr lang="en-US" altLang="ko-KR" sz="2800" b="1" dirty="0"/>
              <a:t>()</a:t>
            </a:r>
            <a:r>
              <a:rPr lang="ko-KR" altLang="en-US" sz="2800" b="1" dirty="0"/>
              <a:t> </a:t>
            </a:r>
            <a:endParaRPr lang="en-US" altLang="ko-KR" sz="2800" b="1" dirty="0"/>
          </a:p>
          <a:p>
            <a:pPr marL="0" indent="0">
              <a:buNone/>
            </a:pPr>
            <a:r>
              <a:rPr lang="ko-KR" altLang="en-US" sz="2800" dirty="0"/>
              <a:t>적 </a:t>
            </a:r>
            <a:r>
              <a:rPr lang="en-US" altLang="ko-KR" sz="2800" dirty="0"/>
              <a:t>AI </a:t>
            </a:r>
            <a:r>
              <a:rPr lang="ko-KR" altLang="en-US" sz="2800" dirty="0"/>
              <a:t>이동</a:t>
            </a:r>
            <a:r>
              <a:rPr lang="en-US" altLang="ko-KR" sz="2800" dirty="0"/>
              <a:t>, </a:t>
            </a:r>
            <a:r>
              <a:rPr lang="ko-KR" altLang="en-US" sz="2800" dirty="0"/>
              <a:t>벽 회피</a:t>
            </a:r>
            <a:r>
              <a:rPr lang="en-US" altLang="ko-KR" sz="2800" dirty="0"/>
              <a:t>, </a:t>
            </a:r>
            <a:r>
              <a:rPr lang="ko-KR" altLang="en-US" sz="2800" dirty="0"/>
              <a:t>플레이어 공격</a:t>
            </a:r>
            <a:r>
              <a:rPr lang="en-US" altLang="ko-KR" sz="2800" dirty="0"/>
              <a:t>. </a:t>
            </a:r>
            <a:r>
              <a:rPr lang="ko-KR" altLang="en-US" sz="2800" dirty="0"/>
              <a:t>게임의 난이도 결정</a:t>
            </a:r>
            <a:endParaRPr lang="en-US" altLang="ko-KR" sz="2800" b="1" dirty="0"/>
          </a:p>
          <a:p>
            <a:r>
              <a:rPr lang="en-US" altLang="ko-KR" sz="2800" b="1" dirty="0" err="1"/>
              <a:t>handleEnemyKill</a:t>
            </a:r>
            <a:r>
              <a:rPr lang="en-US" altLang="ko-KR" sz="2800" b="1" dirty="0"/>
              <a:t>()</a:t>
            </a:r>
            <a:r>
              <a:rPr lang="ko-KR" altLang="en-US" sz="2800" b="1" dirty="0"/>
              <a:t> </a:t>
            </a:r>
            <a:endParaRPr lang="en-US" altLang="ko-KR" sz="2800" b="1" dirty="0"/>
          </a:p>
          <a:p>
            <a:pPr marL="0" indent="0">
              <a:buNone/>
            </a:pPr>
            <a:r>
              <a:rPr lang="ko-KR" altLang="en-US" sz="2800" dirty="0"/>
              <a:t>적 처치 시 보상</a:t>
            </a:r>
            <a:r>
              <a:rPr lang="en-US" altLang="ko-KR" sz="2800" dirty="0"/>
              <a:t>(</a:t>
            </a:r>
            <a:r>
              <a:rPr lang="ko-KR" altLang="en-US" sz="2800" dirty="0"/>
              <a:t>경험치</a:t>
            </a:r>
            <a:r>
              <a:rPr lang="en-US" altLang="ko-KR" sz="2800" dirty="0"/>
              <a:t>, </a:t>
            </a:r>
            <a:r>
              <a:rPr lang="ko-KR" altLang="en-US" sz="2800" dirty="0"/>
              <a:t>점수</a:t>
            </a:r>
            <a:r>
              <a:rPr lang="en-US" altLang="ko-KR" sz="2800" dirty="0"/>
              <a:t>, </a:t>
            </a:r>
            <a:r>
              <a:rPr lang="ko-KR" altLang="en-US" sz="2800" dirty="0"/>
              <a:t>아이템</a:t>
            </a:r>
            <a:r>
              <a:rPr lang="en-US" altLang="ko-KR" sz="2800" dirty="0"/>
              <a:t>). </a:t>
            </a:r>
            <a:r>
              <a:rPr lang="ko-KR" altLang="en-US" sz="2800" dirty="0"/>
              <a:t>게임 진행의 핵심</a:t>
            </a:r>
            <a:endParaRPr lang="en-US" altLang="ko-KR" sz="2800" b="1" dirty="0"/>
          </a:p>
          <a:p>
            <a:r>
              <a:rPr lang="en-US" altLang="ko-KR" sz="2800" b="1" dirty="0" err="1"/>
              <a:t>showSkillDialog</a:t>
            </a:r>
            <a:r>
              <a:rPr lang="en-US" altLang="ko-KR" sz="2800" b="1" dirty="0"/>
              <a:t>()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+ </a:t>
            </a:r>
            <a:r>
              <a:rPr lang="en-US" altLang="ko-KR" sz="2800" b="1" dirty="0" err="1"/>
              <a:t>selectSkill</a:t>
            </a:r>
            <a:r>
              <a:rPr lang="en-US" altLang="ko-KR" sz="2800" b="1" dirty="0"/>
              <a:t>()</a:t>
            </a:r>
          </a:p>
          <a:p>
            <a:pPr marL="0" indent="0">
              <a:buNone/>
            </a:pPr>
            <a:r>
              <a:rPr lang="ko-KR" altLang="en-US" sz="2800" dirty="0" err="1"/>
              <a:t>레벨업</a:t>
            </a:r>
            <a:r>
              <a:rPr lang="ko-KR" altLang="en-US" sz="2800" dirty="0"/>
              <a:t> 시 스킬 선택</a:t>
            </a:r>
            <a:r>
              <a:rPr lang="en-US" altLang="ko-KR" sz="2800" dirty="0"/>
              <a:t>. </a:t>
            </a:r>
            <a:r>
              <a:rPr lang="ko-KR" altLang="en-US" sz="2800" dirty="0"/>
              <a:t>캐릭터 성장 시스템의 전부</a:t>
            </a:r>
          </a:p>
        </p:txBody>
      </p:sp>
    </p:spTree>
    <p:extLst>
      <p:ext uri="{BB962C8B-B14F-4D97-AF65-F5344CB8AC3E}">
        <p14:creationId xmlns:p14="http://schemas.microsoft.com/office/powerpoint/2010/main" val="1709008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18C449-DE0B-6A66-ACBA-E8B01296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902848-FE78-5BAA-3E41-BA9FE8389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https://claude.ai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https://chatgpt.com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2957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DD521B-0C43-1D54-9B81-67D4806239CF}"/>
              </a:ext>
            </a:extLst>
          </p:cNvPr>
          <p:cNvSpPr txBox="1"/>
          <p:nvPr/>
        </p:nvSpPr>
        <p:spPr>
          <a:xfrm>
            <a:off x="3438862" y="2767280"/>
            <a:ext cx="53142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123076546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{B946A865-E55F-4926-92C7-CF4D653D4D31}TFc986dd65-aaf0-4d5c-bef9-9c391ee05f7b75cea709-29670e83f1e8</Template>
  <TotalTime>155</TotalTime>
  <Words>447</Words>
  <Application>Microsoft Office PowerPoint</Application>
  <PresentationFormat>와이드스크린</PresentationFormat>
  <Paragraphs>141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Gill Sans MT</vt:lpstr>
      <vt:lpstr>갤러리</vt:lpstr>
      <vt:lpstr>게임 프로그래밍(웹 게임)</vt:lpstr>
      <vt:lpstr>Github MErge </vt:lpstr>
      <vt:lpstr>원본 게임</vt:lpstr>
      <vt:lpstr>업그레이드 게임의 핵심 요소</vt:lpstr>
      <vt:lpstr>오디오 시스템</vt:lpstr>
      <vt:lpstr>인트로 및 UI/UX</vt:lpstr>
      <vt:lpstr>캐릭터 &amp; 커스터마이징</vt:lpstr>
      <vt:lpstr>무기 및 스킬 시스템</vt:lpstr>
      <vt:lpstr>맵 환경 시스템</vt:lpstr>
      <vt:lpstr>적 타입 시스템</vt:lpstr>
      <vt:lpstr>메타 진행</vt:lpstr>
      <vt:lpstr>업그레이드 수</vt:lpstr>
      <vt:lpstr>핵심 코드</vt:lpstr>
      <vt:lpstr>출처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DoHyun Park</dc:creator>
  <cp:lastModifiedBy>이근석</cp:lastModifiedBy>
  <cp:revision>6</cp:revision>
  <dcterms:created xsi:type="dcterms:W3CDTF">2025-11-06T11:09:16Z</dcterms:created>
  <dcterms:modified xsi:type="dcterms:W3CDTF">2025-11-06T23:53:38Z</dcterms:modified>
</cp:coreProperties>
</file>